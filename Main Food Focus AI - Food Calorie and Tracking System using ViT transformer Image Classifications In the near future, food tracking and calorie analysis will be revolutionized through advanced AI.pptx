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svg" ContentType="image/svg+xml"/>
  <Override PartName="/ppt/media/image4.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Lst>
  <p:sldSz cx="18288000" cy="10287000"/>
  <p:notesSz cx="6858000" cy="9144000"/>
  <p:embeddedFontLst>
    <p:embeddedFont>
      <p:font typeface="Yeseva One" panose="00000500000000000000"/>
      <p:regular r:id="rId12"/>
    </p:embeddedFont>
    <p:embeddedFont>
      <p:font typeface="Libre Baskerville" panose="02000000000000000000"/>
      <p:regular r:id="rId13"/>
    </p:embeddedFont>
    <p:embeddedFont>
      <p:font typeface="Times New Roman Bold" panose="02030802070405020303"/>
      <p:bold r:id="rId14"/>
    </p:embeddedFont>
    <p:embeddedFont>
      <p:font typeface="Calibri" panose="020F050202020403020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7.fntdata"/><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hyperlink" Target="https://ieeexplore.ieee.org/document/9745595" TargetMode="External"/><Relationship Id="rId8" Type="http://schemas.openxmlformats.org/officeDocument/2006/relationships/hyperlink" Target="https://link.springer.com/article/10.1007/s00530-020-00673-6" TargetMode="External"/><Relationship Id="rId7" Type="http://schemas.openxmlformats.org/officeDocument/2006/relationships/hyperlink" Target="https://link.springer.com/article/10.1007/s11227-021-03622-w" TargetMode="Externa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2" Type="http://schemas.openxmlformats.org/officeDocument/2006/relationships/slideLayout" Target="../slideLayouts/slideLayout7.xml"/><Relationship Id="rId11" Type="http://schemas.openxmlformats.org/officeDocument/2006/relationships/hyperlink" Target="https://ieeexplore.ieee.org/document/6748066" TargetMode="External"/><Relationship Id="rId10" Type="http://schemas.openxmlformats.org/officeDocument/2006/relationships/hyperlink" Target="https://ieeexplore.ieee.org/document/9524498" TargetMode="Externa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1730" y="3111970"/>
            <a:ext cx="15803926" cy="4377385"/>
          </a:xfrm>
          <a:prstGeom prst="rect">
            <a:avLst/>
          </a:prstGeom>
        </p:spPr>
        <p:txBody>
          <a:bodyPr lIns="0" tIns="0" rIns="0" bIns="0" rtlCol="0" anchor="t">
            <a:spAutoFit/>
          </a:bodyPr>
          <a:lstStyle/>
          <a:p>
            <a:pPr algn="ctr">
              <a:lnSpc>
                <a:spcPts val="16855"/>
              </a:lnSpc>
            </a:pPr>
            <a:r>
              <a:rPr lang="en-US" sz="16855">
                <a:solidFill>
                  <a:srgbClr val="000000"/>
                </a:solidFill>
                <a:latin typeface="Yeseva One" panose="00000500000000000000"/>
                <a:ea typeface="Yeseva One" panose="00000500000000000000"/>
                <a:cs typeface="Yeseva One" panose="00000500000000000000"/>
                <a:sym typeface="Yeseva One" panose="00000500000000000000"/>
              </a:rPr>
              <a:t>Food</a:t>
            </a:r>
            <a:endParaRPr lang="en-US" sz="16855">
              <a:solidFill>
                <a:srgbClr val="000000"/>
              </a:solidFill>
              <a:latin typeface="Yeseva One" panose="00000500000000000000"/>
              <a:ea typeface="Yeseva One" panose="00000500000000000000"/>
              <a:cs typeface="Yeseva One" panose="00000500000000000000"/>
              <a:sym typeface="Yeseva One" panose="00000500000000000000"/>
            </a:endParaRPr>
          </a:p>
          <a:p>
            <a:pPr algn="ctr">
              <a:lnSpc>
                <a:spcPts val="16855"/>
              </a:lnSpc>
            </a:pPr>
            <a:r>
              <a:rPr lang="en-US" sz="16855">
                <a:solidFill>
                  <a:srgbClr val="000000"/>
                </a:solidFill>
                <a:latin typeface="Yeseva One" panose="00000500000000000000"/>
                <a:ea typeface="Yeseva One" panose="00000500000000000000"/>
                <a:cs typeface="Yeseva One" panose="00000500000000000000"/>
                <a:sym typeface="Yeseva One" panose="00000500000000000000"/>
              </a:rPr>
              <a:t>Focus Ai</a:t>
            </a:r>
            <a:endParaRPr lang="en-US" sz="16855">
              <a:solidFill>
                <a:srgbClr val="000000"/>
              </a:solidFill>
              <a:latin typeface="Yeseva One" panose="00000500000000000000"/>
              <a:ea typeface="Yeseva One" panose="00000500000000000000"/>
              <a:cs typeface="Yeseva One" panose="00000500000000000000"/>
              <a:sym typeface="Yeseva One" panose="00000500000000000000"/>
            </a:endParaRPr>
          </a:p>
        </p:txBody>
      </p:sp>
      <p:sp>
        <p:nvSpPr>
          <p:cNvPr id="3" name="Freeform 3"/>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1089025"/>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TextBox 7"/>
          <p:cNvSpPr txBox="1"/>
          <p:nvPr/>
        </p:nvSpPr>
        <p:spPr>
          <a:xfrm>
            <a:off x="3283182" y="88582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Presented by Jeeva krishna V</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8" name="Freeform 8"/>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02367" y="1250950"/>
            <a:ext cx="6083266" cy="954317"/>
          </a:xfrm>
          <a:prstGeom prst="rect">
            <a:avLst/>
          </a:prstGeom>
        </p:spPr>
        <p:txBody>
          <a:bodyPr lIns="0" tIns="0" rIns="0" bIns="0" rtlCol="0" anchor="t">
            <a:spAutoFit/>
          </a:bodyPr>
          <a:lstStyle/>
          <a:p>
            <a:pPr algn="ctr">
              <a:lnSpc>
                <a:spcPts val="6220"/>
              </a:lnSpc>
            </a:pPr>
            <a:r>
              <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Introduction</a:t>
            </a:r>
            <a:endPar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Freeform 3"/>
          <p:cNvSpPr/>
          <p:nvPr/>
        </p:nvSpPr>
        <p:spPr>
          <a:xfrm>
            <a:off x="14974758" y="-3345132"/>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2605384" y="6926432"/>
            <a:ext cx="5210769" cy="6721137"/>
          </a:xfrm>
          <a:custGeom>
            <a:avLst/>
            <a:gdLst/>
            <a:ahLst/>
            <a:cxnLst/>
            <a:rect l="l" t="t" r="r" b="b"/>
            <a:pathLst>
              <a:path w="5210769" h="6721137">
                <a:moveTo>
                  <a:pt x="0" y="0"/>
                </a:moveTo>
                <a:lnTo>
                  <a:pt x="5210768" y="0"/>
                </a:lnTo>
                <a:lnTo>
                  <a:pt x="5210768" y="6721136"/>
                </a:lnTo>
                <a:lnTo>
                  <a:pt x="0" y="6721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6286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Freeform 7"/>
          <p:cNvSpPr/>
          <p:nvPr/>
        </p:nvSpPr>
        <p:spPr>
          <a:xfrm rot="-3755510">
            <a:off x="14767669" y="589819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3603" y="2971150"/>
            <a:ext cx="16065697" cy="6340475"/>
          </a:xfrm>
          <a:prstGeom prst="rect">
            <a:avLst/>
          </a:prstGeom>
        </p:spPr>
        <p:txBody>
          <a:bodyPr lIns="0" tIns="0" rIns="0" bIns="0" rtlCol="0" anchor="t">
            <a:spAutoFit/>
          </a:bodyPr>
          <a:lstStyle/>
          <a:p>
            <a:pPr algn="just">
              <a:lnSpc>
                <a:spcPts val="4495"/>
              </a:lnSpc>
            </a:pPr>
          </a:p>
          <a:p>
            <a:pPr algn="just">
              <a:lnSpc>
                <a:spcPts val="4495"/>
              </a:lnSpc>
            </a:pPr>
            <a:r>
              <a:rPr lang="en-US" sz="323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Objective: </a:t>
            </a:r>
            <a:r>
              <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rPr>
              <a:t>In the near future, food tracking and calorie analysis will be revolutionized through advanced AI. Food-focus AI aims to build a robust platform dedicated to Indian cuisine, allowing users to seamlessly track and analyze the calories in their food. Through image recognition and AI-powered analysis, users will be able to make informed choices about their daily caloric intake.</a:t>
            </a:r>
            <a:endPar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495"/>
              </a:lnSpc>
            </a:pPr>
            <a:endParaRPr lang="en-US" sz="323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algn="just">
              <a:lnSpc>
                <a:spcPts val="4495"/>
              </a:lnSpc>
            </a:pPr>
            <a:r>
              <a:rPr lang="en-US" sz="323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Technologies: </a:t>
            </a:r>
            <a:r>
              <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rPr>
              <a:t>ViT Transformers, FastAPI, PyTorch.</a:t>
            </a:r>
            <a:endPar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495"/>
              </a:lnSpc>
            </a:pPr>
            <a:endPar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495"/>
              </a:lnSpc>
            </a:pPr>
            <a:r>
              <a:rPr lang="en-US" sz="3235"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Target Audience:</a:t>
            </a:r>
            <a:r>
              <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rPr>
              <a:t> Health-conscious individuals, nutritionists, fitness enthusiasts, and anyone looking to track their food intake.</a:t>
            </a:r>
            <a:endParaRPr lang="en-US" sz="32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495"/>
              </a:lnSpc>
            </a:pPr>
          </a:p>
        </p:txBody>
      </p:sp>
      <p:sp>
        <p:nvSpPr>
          <p:cNvPr id="9" name="TextBox 9"/>
          <p:cNvSpPr txBox="1"/>
          <p:nvPr/>
        </p:nvSpPr>
        <p:spPr>
          <a:xfrm>
            <a:off x="1976304" y="2314672"/>
            <a:ext cx="14335392" cy="995161"/>
          </a:xfrm>
          <a:prstGeom prst="rect">
            <a:avLst/>
          </a:prstGeom>
        </p:spPr>
        <p:txBody>
          <a:bodyPr lIns="0" tIns="0" rIns="0" bIns="0" rtlCol="0" anchor="t">
            <a:spAutoFit/>
          </a:bodyPr>
          <a:lstStyle/>
          <a:p>
            <a:pPr algn="ctr">
              <a:lnSpc>
                <a:spcPts val="3530"/>
              </a:lnSpc>
              <a:spcBef>
                <a:spcPct val="0"/>
              </a:spcBef>
            </a:pPr>
            <a:r>
              <a:rPr lang="en-US" sz="353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Food Focus AI - Food Calorie and Tracking System using ViT transformer Image Classifications</a:t>
            </a:r>
            <a:endParaRPr lang="en-US" sz="353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02367" y="1415551"/>
            <a:ext cx="6083266" cy="954317"/>
          </a:xfrm>
          <a:prstGeom prst="rect">
            <a:avLst/>
          </a:prstGeom>
        </p:spPr>
        <p:txBody>
          <a:bodyPr lIns="0" tIns="0" rIns="0" bIns="0" rtlCol="0" anchor="t">
            <a:spAutoFit/>
          </a:bodyPr>
          <a:lstStyle/>
          <a:p>
            <a:pPr algn="ctr">
              <a:lnSpc>
                <a:spcPts val="6220"/>
              </a:lnSpc>
            </a:pPr>
            <a:r>
              <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Abstract</a:t>
            </a:r>
            <a:endPar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Freeform 3"/>
          <p:cNvSpPr/>
          <p:nvPr/>
        </p:nvSpPr>
        <p:spPr>
          <a:xfrm>
            <a:off x="14974758" y="-3345132"/>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2605384" y="6926432"/>
            <a:ext cx="5210769" cy="6721137"/>
          </a:xfrm>
          <a:custGeom>
            <a:avLst/>
            <a:gdLst/>
            <a:ahLst/>
            <a:cxnLst/>
            <a:rect l="l" t="t" r="r" b="b"/>
            <a:pathLst>
              <a:path w="5210769" h="6721137">
                <a:moveTo>
                  <a:pt x="0" y="0"/>
                </a:moveTo>
                <a:lnTo>
                  <a:pt x="5210768" y="0"/>
                </a:lnTo>
                <a:lnTo>
                  <a:pt x="5210768" y="6721136"/>
                </a:lnTo>
                <a:lnTo>
                  <a:pt x="0" y="6721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6286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Freeform 7"/>
          <p:cNvSpPr/>
          <p:nvPr/>
        </p:nvSpPr>
        <p:spPr>
          <a:xfrm rot="-3755510">
            <a:off x="14767669" y="589819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3603" y="2455593"/>
            <a:ext cx="16065697" cy="5036820"/>
          </a:xfrm>
          <a:prstGeom prst="rect">
            <a:avLst/>
          </a:prstGeom>
        </p:spPr>
        <p:txBody>
          <a:bodyPr lIns="0" tIns="0" rIns="0" bIns="0" rtlCol="0" anchor="t">
            <a:spAutoFit/>
          </a:bodyPr>
          <a:lstStyle/>
          <a:p>
            <a:pPr algn="just">
              <a:lnSpc>
                <a:spcPts val="4910"/>
              </a:lnSpc>
            </a:pPr>
            <a:r>
              <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rPr>
              <a:t>The Food-focus AI web app helps users identify food items and track calories, specifically focusing on Indian cuisine, using Vision Transformer (ViT) models for food recognition. Users can upload or capture images for instant</a:t>
            </a:r>
            <a:r>
              <a:rPr lang="en-SG" alt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rPr>
              <a:t> food</a:t>
            </a:r>
            <a:r>
              <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rPr>
              <a:t> recognition, with macronutrient data displayed in pie charts for easy understanding. The app also features calendar-based goal tracking with color-coded indicators, allowing users to monitor progress. Monthly data can be exported in CSV format, and personalized calorie goals can be set to enhance tracking and maintain healthier eating habits.</a:t>
            </a:r>
            <a:endPar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910"/>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71038" y="1331663"/>
            <a:ext cx="7268113" cy="954317"/>
          </a:xfrm>
          <a:prstGeom prst="rect">
            <a:avLst/>
          </a:prstGeom>
        </p:spPr>
        <p:txBody>
          <a:bodyPr lIns="0" tIns="0" rIns="0" bIns="0" rtlCol="0" anchor="t">
            <a:spAutoFit/>
          </a:bodyPr>
          <a:lstStyle/>
          <a:p>
            <a:pPr algn="ctr">
              <a:lnSpc>
                <a:spcPts val="6220"/>
              </a:lnSpc>
            </a:pPr>
            <a:r>
              <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Problem Statement</a:t>
            </a:r>
            <a:endPar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Freeform 3"/>
          <p:cNvSpPr/>
          <p:nvPr/>
        </p:nvSpPr>
        <p:spPr>
          <a:xfrm>
            <a:off x="14974758" y="-3345132"/>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2605384" y="6926432"/>
            <a:ext cx="5210769" cy="6721137"/>
          </a:xfrm>
          <a:custGeom>
            <a:avLst/>
            <a:gdLst/>
            <a:ahLst/>
            <a:cxnLst/>
            <a:rect l="l" t="t" r="r" b="b"/>
            <a:pathLst>
              <a:path w="5210769" h="6721137">
                <a:moveTo>
                  <a:pt x="0" y="0"/>
                </a:moveTo>
                <a:lnTo>
                  <a:pt x="5210768" y="0"/>
                </a:lnTo>
                <a:lnTo>
                  <a:pt x="5210768" y="6721136"/>
                </a:lnTo>
                <a:lnTo>
                  <a:pt x="0" y="6721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6286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Freeform 7"/>
          <p:cNvSpPr/>
          <p:nvPr/>
        </p:nvSpPr>
        <p:spPr>
          <a:xfrm rot="-3755510">
            <a:off x="14767669" y="589819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3603" y="2455593"/>
            <a:ext cx="16065697" cy="5010604"/>
          </a:xfrm>
          <a:prstGeom prst="rect">
            <a:avLst/>
          </a:prstGeom>
        </p:spPr>
        <p:txBody>
          <a:bodyPr lIns="0" tIns="0" rIns="0" bIns="0" rtlCol="0" anchor="t">
            <a:spAutoFit/>
          </a:bodyPr>
          <a:lstStyle/>
          <a:p>
            <a:pPr algn="just">
              <a:lnSpc>
                <a:spcPts val="4910"/>
              </a:lnSpc>
            </a:pPr>
            <a:r>
              <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rPr>
              <a:t>Current food tracking solutions often fail to address the unique challenges posed by Indian cuisine, which is rich in variety and diverse in ingredients and cooking methods. Existing calorie tracking systems struggle with accurately identifying Indian foods and calculating their nutritional content, leading to inconsistent and inaccurate data. This lack of specificity makes it difficult for users to effectively track their calorie intake and visualize nutritional information, hindering their ability to manage their diets properly.</a:t>
            </a:r>
            <a:endPar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910"/>
              </a:lnSpc>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06725" y="1250950"/>
            <a:ext cx="10674550" cy="954317"/>
          </a:xfrm>
          <a:prstGeom prst="rect">
            <a:avLst/>
          </a:prstGeom>
        </p:spPr>
        <p:txBody>
          <a:bodyPr lIns="0" tIns="0" rIns="0" bIns="0" rtlCol="0" anchor="t">
            <a:spAutoFit/>
          </a:bodyPr>
          <a:lstStyle/>
          <a:p>
            <a:pPr algn="ctr">
              <a:lnSpc>
                <a:spcPts val="6220"/>
              </a:lnSpc>
            </a:pPr>
            <a:r>
              <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Conclusion </a:t>
            </a:r>
            <a:endPar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Freeform 3"/>
          <p:cNvSpPr/>
          <p:nvPr/>
        </p:nvSpPr>
        <p:spPr>
          <a:xfrm>
            <a:off x="14974758" y="-3345132"/>
            <a:ext cx="6626483" cy="5715000"/>
          </a:xfrm>
          <a:custGeom>
            <a:avLst/>
            <a:gdLst/>
            <a:ahLst/>
            <a:cxnLst/>
            <a:rect l="l" t="t" r="r" b="b"/>
            <a:pathLst>
              <a:path w="6626483" h="5715000">
                <a:moveTo>
                  <a:pt x="0" y="0"/>
                </a:moveTo>
                <a:lnTo>
                  <a:pt x="6626484" y="0"/>
                </a:lnTo>
                <a:lnTo>
                  <a:pt x="6626484"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2605384" y="6926432"/>
            <a:ext cx="5210769" cy="6721137"/>
          </a:xfrm>
          <a:custGeom>
            <a:avLst/>
            <a:gdLst/>
            <a:ahLst/>
            <a:cxnLst/>
            <a:rect l="l" t="t" r="r" b="b"/>
            <a:pathLst>
              <a:path w="5210769" h="6721137">
                <a:moveTo>
                  <a:pt x="0" y="0"/>
                </a:moveTo>
                <a:lnTo>
                  <a:pt x="5210768" y="0"/>
                </a:lnTo>
                <a:lnTo>
                  <a:pt x="5210768" y="6721136"/>
                </a:lnTo>
                <a:lnTo>
                  <a:pt x="0" y="67211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6286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Freeform 7"/>
          <p:cNvSpPr/>
          <p:nvPr/>
        </p:nvSpPr>
        <p:spPr>
          <a:xfrm rot="-3755510">
            <a:off x="14767669" y="589819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3603" y="2455593"/>
            <a:ext cx="16065697" cy="6248854"/>
          </a:xfrm>
          <a:prstGeom prst="rect">
            <a:avLst/>
          </a:prstGeom>
        </p:spPr>
        <p:txBody>
          <a:bodyPr lIns="0" tIns="0" rIns="0" bIns="0" rtlCol="0" anchor="t">
            <a:spAutoFit/>
          </a:bodyPr>
          <a:lstStyle/>
          <a:p>
            <a:pPr algn="just">
              <a:lnSpc>
                <a:spcPts val="4910"/>
              </a:lnSpc>
            </a:pPr>
            <a:r>
              <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rPr>
              <a:t>Food-focus AI empowers individuals to take control of their nutrition, particularly in the context of Indian cuisine. By harnessing the power of AI, our solution provides accurate, real-time, and personalized food recognition and analysis, bridging the gap in existing food tracking tools. Using advanced technologies like Vision Transformers and FastAPI, this platform meets the growing demand for tailored food tracking. Future prospects include expanding the model to cover a wider range of global cuisines, integrating with fitness apps for comprehensive health tracking, and offering AI-powered recipe suggestions based on individual goals.</a:t>
            </a:r>
            <a:endParaRPr lang="en-US" sz="35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910"/>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06725" y="1250950"/>
            <a:ext cx="10674550" cy="954317"/>
          </a:xfrm>
          <a:prstGeom prst="rect">
            <a:avLst/>
          </a:prstGeom>
        </p:spPr>
        <p:txBody>
          <a:bodyPr lIns="0" tIns="0" rIns="0" bIns="0" rtlCol="0" anchor="t">
            <a:spAutoFit/>
          </a:bodyPr>
          <a:lstStyle/>
          <a:p>
            <a:pPr algn="ctr">
              <a:lnSpc>
                <a:spcPts val="6220"/>
              </a:lnSpc>
            </a:pPr>
            <a:r>
              <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References</a:t>
            </a:r>
            <a:endParaRPr lang="en-US" sz="622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3" name="Freeform 3"/>
          <p:cNvSpPr/>
          <p:nvPr/>
        </p:nvSpPr>
        <p:spPr>
          <a:xfrm>
            <a:off x="15781481" y="-4454525"/>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266137">
            <a:off x="-3418323" y="7321170"/>
            <a:ext cx="5210769" cy="6721137"/>
          </a:xfrm>
          <a:custGeom>
            <a:avLst/>
            <a:gdLst/>
            <a:ahLst/>
            <a:cxnLst/>
            <a:rect l="l" t="t" r="r" b="b"/>
            <a:pathLst>
              <a:path w="5210769" h="6721137">
                <a:moveTo>
                  <a:pt x="0" y="0"/>
                </a:moveTo>
                <a:lnTo>
                  <a:pt x="5210768" y="0"/>
                </a:lnTo>
                <a:lnTo>
                  <a:pt x="5210768" y="6721137"/>
                </a:lnTo>
                <a:lnTo>
                  <a:pt x="0" y="67211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5569636">
            <a:off x="362427" y="-337981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3283182" y="628650"/>
            <a:ext cx="11721636" cy="400050"/>
          </a:xfrm>
          <a:prstGeom prst="rect">
            <a:avLst/>
          </a:prstGeom>
        </p:spPr>
        <p:txBody>
          <a:bodyPr lIns="0" tIns="0" rIns="0" bIns="0" rtlCol="0" anchor="t">
            <a:spAutoFit/>
          </a:bodyPr>
          <a:lstStyle/>
          <a:p>
            <a:pPr algn="ctr">
              <a:lnSpc>
                <a:spcPts val="3000"/>
              </a:lnSpc>
            </a:pPr>
            <a:r>
              <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rPr>
              <a:t>SASTRA Deemed University</a:t>
            </a:r>
            <a:endParaRPr lang="en-US" sz="3000">
              <a:solidFill>
                <a:srgbClr val="000000"/>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Freeform 7"/>
          <p:cNvSpPr/>
          <p:nvPr/>
        </p:nvSpPr>
        <p:spPr>
          <a:xfrm rot="-3755510">
            <a:off x="15721068" y="6521575"/>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081707" y="2100492"/>
            <a:ext cx="16124586" cy="6720516"/>
          </a:xfrm>
          <a:prstGeom prst="rect">
            <a:avLst/>
          </a:prstGeom>
        </p:spPr>
        <p:txBody>
          <a:bodyPr lIns="0" tIns="0" rIns="0" bIns="0" rtlCol="0" anchor="t">
            <a:spAutoFit/>
          </a:bodyPr>
          <a:lstStyle/>
          <a:p>
            <a:pPr marL="633730" lvl="1" indent="-316865" algn="just">
              <a:lnSpc>
                <a:spcPts val="4080"/>
              </a:lnSpc>
              <a:buAutoNum type="arabicPeriod"/>
            </a:pPr>
            <a:r>
              <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7" tooltip="https://link.springer.com/article/10.1007/s11227-021-03622-w"/>
              </a:rPr>
              <a:t>Kumar, R.D., Julie, E.G., Robinson, Y.H. et al. Recognition of food type and calorie estimation using neural network. J Supercomput, 77, 8172–8193 (2021).</a:t>
            </a:r>
            <a:endPar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33730" lvl="1" indent="-316865" algn="just">
              <a:lnSpc>
                <a:spcPts val="4080"/>
              </a:lnSpc>
              <a:buAutoNum type="arabicPeriod"/>
            </a:pPr>
            <a:r>
              <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8" tooltip="https://link.springer.com/article/10.1007/s00530-020-00673-6"/>
              </a:rPr>
              <a:t>Wei, P., Wang, B. Food image classification and image retrieval based on visual features and machine learning. Multimedia Systems, 28, 2053–2064 (2022).</a:t>
            </a:r>
            <a:endPar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33730" lvl="1" indent="-316865" algn="just">
              <a:lnSpc>
                <a:spcPts val="4080"/>
              </a:lnSpc>
              <a:buAutoNum type="arabicPeriod"/>
            </a:pPr>
            <a:r>
              <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9" tooltip="https://ieeexplore.ieee.org/document/9745595"/>
              </a:rPr>
              <a:t>H. Hu, Q. Zhang, and Y. Chen, "NIRSCam: A Mobile Near-Infrared Sensing System for Food Calorie Estimation," IEEE Internet of Things Journal, vol. 9, no. 19, pp. 18934-18945, Oct. 1, 2022</a:t>
            </a:r>
            <a:r>
              <a:rPr lang="en-US" sz="2935">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33730" lvl="1" indent="-316865" algn="just">
              <a:lnSpc>
                <a:spcPts val="4080"/>
              </a:lnSpc>
              <a:buAutoNum type="arabicPeriod"/>
            </a:pPr>
            <a:r>
              <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10" tooltip="https://ieeexplore.ieee.org/document/9524498"/>
              </a:rPr>
              <a:t>B. Arslan, S. Memiş, E. B. Sönmez, and O. Z. Batur, "Fine-Grained Food Classification Methods on the UEC FOOD-100 Database," IEEE Transactions on Artificial Intelligence, vol. 3, no. 2, pp. 238-243, April 2022</a:t>
            </a:r>
            <a:r>
              <a:rPr lang="en-US" sz="2935">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3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33730" lvl="1" indent="-316865" algn="just">
              <a:lnSpc>
                <a:spcPts val="4080"/>
              </a:lnSpc>
              <a:buAutoNum type="arabicPeriod"/>
            </a:pPr>
            <a:r>
              <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11" tooltip="https://ieeexplore.ieee.org/document/6748066"/>
              </a:rPr>
              <a:t>P. Pouladzadeh, S. Shirmohammadi, and R. Al-Maghrabi, "Measuring Calorie and Nutrition From Food Image," IEEE Transactions on Instrumentation and Measurement, vol. 63, no. 8, pp. 1947-1956, Aug. 2014.</a:t>
            </a:r>
            <a:endParaRPr lang="en-US" sz="2935" u="sng">
              <a:solidFill>
                <a:srgbClr val="000000"/>
              </a:solidFill>
              <a:latin typeface="Times New Roman" panose="02020603050405020304"/>
              <a:ea typeface="Times New Roman" panose="02020603050405020304"/>
              <a:cs typeface="Times New Roman" panose="02020603050405020304"/>
              <a:sym typeface="Times New Roman" panose="02020603050405020304"/>
              <a:hlinkClick r:id="rId11" tooltip="https://ieeexplore.ieee.org/document/6748066"/>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3560</Words>
  <Application>WPS Presentation</Application>
  <PresentationFormat>On-screen Show (4:3)</PresentationFormat>
  <Paragraphs>51</Paragraphs>
  <Slides>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Yeseva One</vt:lpstr>
      <vt:lpstr>Libre Baskerville</vt:lpstr>
      <vt:lpstr>Times New Roman Bold</vt:lpstr>
      <vt:lpstr>Times New Roman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Food Focus AI - Food Calorie and Tracking System using ViT transformer Image Classifications In the near future, food tracking and calorie analysis will be revolutionized through advanced AI. Food-focus AI aims to build a robust platform dedicated to</dc:title>
  <dc:creator/>
  <cp:lastModifiedBy>Jeevakrishna V</cp:lastModifiedBy>
  <cp:revision>2</cp:revision>
  <dcterms:created xsi:type="dcterms:W3CDTF">2006-08-16T00:00:00Z</dcterms:created>
  <dcterms:modified xsi:type="dcterms:W3CDTF">2025-01-28T19:51:27Z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6B86D1EAE1A849FABB6C4BA71E3715E0_12</vt:lpwstr>
  </property>
  <property fmtid="{D5CDD505-2E9C-101B-9397-08002B2CF9AE}" pid="3" name="KSOProductBuildVer">
    <vt:lpwstr>2057-12.2.0.19805</vt:lpwstr>
  </property>
</Properties>
</file>